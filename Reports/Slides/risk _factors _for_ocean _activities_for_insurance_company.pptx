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Relationship Id="rId6" Target="https://www.sharkattackfile.net/incidentlog.htm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73253"/>
            <a:ext cx="16230600" cy="377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2"/>
              </a:lnSpc>
            </a:pPr>
            <a:r>
              <a:rPr lang="en-US" b="true" sz="129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 FACTORS  FOR OCEAN  ACTIVITIES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67443" y="6357732"/>
            <a:ext cx="5153114" cy="55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b="true" sz="3039" spc="-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COMPANY:  APM  INSURANCE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0372" y="7217335"/>
            <a:ext cx="8442167" cy="55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b="true" sz="3039" spc="-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:  DATA   &amp;   ANALYTICS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40169" y="8235494"/>
            <a:ext cx="600766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TEAM:   ANNA,  PAULINA ,  MARISA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781675"/>
            <a:ext cx="8520776" cy="3117652"/>
            <a:chOff x="0" y="0"/>
            <a:chExt cx="2244155" cy="8211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4155" cy="821110"/>
            </a:xfrm>
            <a:custGeom>
              <a:avLst/>
              <a:gdLst/>
              <a:ahLst/>
              <a:cxnLst/>
              <a:rect r="r" b="b" t="t" l="l"/>
              <a:pathLst>
                <a:path h="821110" w="2244155">
                  <a:moveTo>
                    <a:pt x="27258" y="0"/>
                  </a:moveTo>
                  <a:lnTo>
                    <a:pt x="2216897" y="0"/>
                  </a:lnTo>
                  <a:cubicBezTo>
                    <a:pt x="2231951" y="0"/>
                    <a:pt x="2244155" y="12204"/>
                    <a:pt x="2244155" y="27258"/>
                  </a:cubicBezTo>
                  <a:lnTo>
                    <a:pt x="2244155" y="793852"/>
                  </a:lnTo>
                  <a:cubicBezTo>
                    <a:pt x="2244155" y="801081"/>
                    <a:pt x="2241283" y="808015"/>
                    <a:pt x="2236171" y="813126"/>
                  </a:cubicBezTo>
                  <a:cubicBezTo>
                    <a:pt x="2231059" y="818238"/>
                    <a:pt x="2224126" y="821110"/>
                    <a:pt x="2216897" y="821110"/>
                  </a:cubicBezTo>
                  <a:lnTo>
                    <a:pt x="27258" y="821110"/>
                  </a:lnTo>
                  <a:cubicBezTo>
                    <a:pt x="20029" y="821110"/>
                    <a:pt x="13095" y="818238"/>
                    <a:pt x="7984" y="813126"/>
                  </a:cubicBezTo>
                  <a:cubicBezTo>
                    <a:pt x="2872" y="808015"/>
                    <a:pt x="0" y="801081"/>
                    <a:pt x="0" y="793852"/>
                  </a:cubicBezTo>
                  <a:lnTo>
                    <a:pt x="0" y="27258"/>
                  </a:lnTo>
                  <a:cubicBezTo>
                    <a:pt x="0" y="20029"/>
                    <a:pt x="2872" y="13095"/>
                    <a:pt x="7984" y="7984"/>
                  </a:cubicBezTo>
                  <a:cubicBezTo>
                    <a:pt x="13095" y="2872"/>
                    <a:pt x="20029" y="0"/>
                    <a:pt x="27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244155" cy="792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07455" y="2261249"/>
            <a:ext cx="6737985" cy="67379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8291" t="0" r="-4170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461274"/>
            <a:ext cx="10093024" cy="122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9350" spc="-81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 INSURANCE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9767" y="6891823"/>
            <a:ext cx="713965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full coverage tourist insurance </a:t>
            </a: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watersports insurance</a:t>
            </a: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ocean activity insurance</a:t>
            </a: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risk assessment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9261" y="6000257"/>
            <a:ext cx="713965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1A3C5C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Services provided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9024" y="3532735"/>
            <a:ext cx="7994976" cy="168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8"/>
              </a:lnSpc>
            </a:pPr>
            <a:r>
              <a:rPr lang="en-US" sz="5951" spc="-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worldwide insurance provider  for  EU citizens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121724" y="2261249"/>
            <a:ext cx="6137576" cy="10861348"/>
            <a:chOff x="0" y="0"/>
            <a:chExt cx="468630" cy="8293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8630" cy="829310"/>
            </a:xfrm>
            <a:custGeom>
              <a:avLst/>
              <a:gdLst/>
              <a:ahLst/>
              <a:cxnLst/>
              <a:rect r="r" b="b" t="t" l="l"/>
              <a:pathLst>
                <a:path h="829310" w="468630">
                  <a:moveTo>
                    <a:pt x="436880" y="829310"/>
                  </a:moveTo>
                  <a:lnTo>
                    <a:pt x="31750" y="829310"/>
                  </a:lnTo>
                  <a:cubicBezTo>
                    <a:pt x="22860" y="829310"/>
                    <a:pt x="13970" y="824230"/>
                    <a:pt x="8890" y="816610"/>
                  </a:cubicBezTo>
                  <a:cubicBezTo>
                    <a:pt x="2540" y="810260"/>
                    <a:pt x="0" y="802640"/>
                    <a:pt x="0" y="792480"/>
                  </a:cubicBezTo>
                  <a:lnTo>
                    <a:pt x="0" y="33020"/>
                  </a:lnTo>
                  <a:cubicBezTo>
                    <a:pt x="0" y="13970"/>
                    <a:pt x="12700" y="0"/>
                    <a:pt x="30480" y="0"/>
                  </a:cubicBezTo>
                  <a:lnTo>
                    <a:pt x="438150" y="0"/>
                  </a:lnTo>
                  <a:cubicBezTo>
                    <a:pt x="454660" y="0"/>
                    <a:pt x="468630" y="15240"/>
                    <a:pt x="468630" y="34290"/>
                  </a:cubicBezTo>
                  <a:lnTo>
                    <a:pt x="468630" y="795020"/>
                  </a:lnTo>
                  <a:cubicBezTo>
                    <a:pt x="467360" y="814070"/>
                    <a:pt x="453390" y="829310"/>
                    <a:pt x="436880" y="829310"/>
                  </a:cubicBezTo>
                  <a:close/>
                  <a:moveTo>
                    <a:pt x="10160" y="810260"/>
                  </a:moveTo>
                  <a:cubicBezTo>
                    <a:pt x="15240" y="819150"/>
                    <a:pt x="22860" y="824230"/>
                    <a:pt x="31750" y="824230"/>
                  </a:cubicBezTo>
                  <a:lnTo>
                    <a:pt x="436880" y="824230"/>
                  </a:lnTo>
                  <a:cubicBezTo>
                    <a:pt x="450850" y="824230"/>
                    <a:pt x="462280" y="810260"/>
                    <a:pt x="462280" y="793750"/>
                  </a:cubicBezTo>
                  <a:lnTo>
                    <a:pt x="462280" y="34290"/>
                  </a:lnTo>
                  <a:cubicBezTo>
                    <a:pt x="462280" y="17780"/>
                    <a:pt x="450850" y="3810"/>
                    <a:pt x="436880" y="3810"/>
                  </a:cubicBezTo>
                  <a:lnTo>
                    <a:pt x="29210" y="3810"/>
                  </a:lnTo>
                  <a:cubicBezTo>
                    <a:pt x="15240" y="3810"/>
                    <a:pt x="3810" y="15240"/>
                    <a:pt x="3810" y="31750"/>
                  </a:cubicBezTo>
                  <a:lnTo>
                    <a:pt x="3810" y="792480"/>
                  </a:lnTo>
                  <a:cubicBezTo>
                    <a:pt x="5080" y="800100"/>
                    <a:pt x="6350" y="805180"/>
                    <a:pt x="10160" y="810260"/>
                  </a:cubicBezTo>
                  <a:close/>
                  <a:moveTo>
                    <a:pt x="436880" y="722630"/>
                  </a:moveTo>
                  <a:lnTo>
                    <a:pt x="31750" y="722630"/>
                  </a:lnTo>
                  <a:lnTo>
                    <a:pt x="31750" y="77470"/>
                  </a:lnTo>
                  <a:lnTo>
                    <a:pt x="436880" y="77470"/>
                  </a:lnTo>
                  <a:lnTo>
                    <a:pt x="436880" y="722630"/>
                  </a:lnTo>
                  <a:close/>
                  <a:moveTo>
                    <a:pt x="36830" y="718820"/>
                  </a:moveTo>
                  <a:lnTo>
                    <a:pt x="431800" y="718820"/>
                  </a:lnTo>
                  <a:lnTo>
                    <a:pt x="431800" y="83820"/>
                  </a:lnTo>
                  <a:lnTo>
                    <a:pt x="36830" y="83820"/>
                  </a:lnTo>
                  <a:lnTo>
                    <a:pt x="36830" y="7188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" y="2540"/>
              <a:ext cx="462368" cy="825500"/>
            </a:xfrm>
            <a:custGeom>
              <a:avLst/>
              <a:gdLst/>
              <a:ahLst/>
              <a:cxnLst/>
              <a:rect r="r" b="b" t="t" l="l"/>
              <a:pathLst>
                <a:path h="825500" w="462368">
                  <a:moveTo>
                    <a:pt x="435610" y="0"/>
                  </a:moveTo>
                  <a:lnTo>
                    <a:pt x="27940" y="0"/>
                  </a:lnTo>
                  <a:cubicBezTo>
                    <a:pt x="12700" y="0"/>
                    <a:pt x="0" y="12700"/>
                    <a:pt x="0" y="30480"/>
                  </a:cubicBezTo>
                  <a:lnTo>
                    <a:pt x="0" y="791210"/>
                  </a:lnTo>
                  <a:cubicBezTo>
                    <a:pt x="0" y="800100"/>
                    <a:pt x="2540" y="807720"/>
                    <a:pt x="7620" y="814070"/>
                  </a:cubicBezTo>
                  <a:cubicBezTo>
                    <a:pt x="6350" y="812800"/>
                    <a:pt x="6350" y="811530"/>
                    <a:pt x="6350" y="810260"/>
                  </a:cubicBezTo>
                  <a:cubicBezTo>
                    <a:pt x="11430" y="819150"/>
                    <a:pt x="20320" y="825500"/>
                    <a:pt x="30480" y="825500"/>
                  </a:cubicBezTo>
                  <a:lnTo>
                    <a:pt x="434340" y="825500"/>
                  </a:lnTo>
                  <a:cubicBezTo>
                    <a:pt x="449580" y="825500"/>
                    <a:pt x="462280" y="811530"/>
                    <a:pt x="462280" y="793750"/>
                  </a:cubicBezTo>
                  <a:lnTo>
                    <a:pt x="462280" y="31750"/>
                  </a:lnTo>
                  <a:cubicBezTo>
                    <a:pt x="463550" y="13970"/>
                    <a:pt x="450850" y="0"/>
                    <a:pt x="435610" y="0"/>
                  </a:cubicBezTo>
                  <a:close/>
                  <a:moveTo>
                    <a:pt x="433070" y="717550"/>
                  </a:moveTo>
                  <a:lnTo>
                    <a:pt x="33020" y="717550"/>
                  </a:lnTo>
                  <a:lnTo>
                    <a:pt x="33020" y="77470"/>
                  </a:lnTo>
                  <a:lnTo>
                    <a:pt x="433070" y="77470"/>
                  </a:lnTo>
                  <a:lnTo>
                    <a:pt x="433070" y="7175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280" y="754380"/>
              <a:ext cx="52158" cy="52070"/>
            </a:xfrm>
            <a:custGeom>
              <a:avLst/>
              <a:gdLst/>
              <a:ahLst/>
              <a:cxnLst/>
              <a:rect r="r" b="b" t="t" l="l"/>
              <a:pathLst>
                <a:path h="52070" w="52158">
                  <a:moveTo>
                    <a:pt x="26670" y="0"/>
                  </a:moveTo>
                  <a:cubicBezTo>
                    <a:pt x="12700" y="0"/>
                    <a:pt x="0" y="11430"/>
                    <a:pt x="0" y="26670"/>
                  </a:cubicBezTo>
                  <a:lnTo>
                    <a:pt x="0" y="31750"/>
                  </a:lnTo>
                  <a:lnTo>
                    <a:pt x="0" y="34290"/>
                  </a:lnTo>
                  <a:cubicBezTo>
                    <a:pt x="0" y="35560"/>
                    <a:pt x="0" y="36830"/>
                    <a:pt x="1270" y="36830"/>
                  </a:cubicBezTo>
                  <a:cubicBezTo>
                    <a:pt x="1270" y="36830"/>
                    <a:pt x="1270" y="38100"/>
                    <a:pt x="2540" y="38100"/>
                  </a:cubicBezTo>
                  <a:cubicBezTo>
                    <a:pt x="2540" y="39370"/>
                    <a:pt x="3810" y="39370"/>
                    <a:pt x="3810" y="40640"/>
                  </a:cubicBezTo>
                  <a:lnTo>
                    <a:pt x="5080" y="41910"/>
                  </a:lnTo>
                  <a:cubicBezTo>
                    <a:pt x="5080" y="43180"/>
                    <a:pt x="6350" y="43180"/>
                    <a:pt x="7620" y="44450"/>
                  </a:cubicBezTo>
                  <a:lnTo>
                    <a:pt x="8890" y="45720"/>
                  </a:lnTo>
                  <a:lnTo>
                    <a:pt x="11430" y="48260"/>
                  </a:lnTo>
                  <a:cubicBezTo>
                    <a:pt x="11430" y="48260"/>
                    <a:pt x="12700" y="48260"/>
                    <a:pt x="12700" y="49530"/>
                  </a:cubicBezTo>
                  <a:cubicBezTo>
                    <a:pt x="13970" y="49530"/>
                    <a:pt x="15240" y="50800"/>
                    <a:pt x="15240" y="50800"/>
                  </a:cubicBezTo>
                  <a:lnTo>
                    <a:pt x="16510" y="50800"/>
                  </a:lnTo>
                  <a:cubicBezTo>
                    <a:pt x="17780" y="50800"/>
                    <a:pt x="19050" y="52070"/>
                    <a:pt x="20320" y="52070"/>
                  </a:cubicBezTo>
                  <a:lnTo>
                    <a:pt x="21590" y="52070"/>
                  </a:lnTo>
                  <a:cubicBezTo>
                    <a:pt x="21590" y="52070"/>
                    <a:pt x="25400" y="52070"/>
                    <a:pt x="26670" y="52070"/>
                  </a:cubicBezTo>
                  <a:cubicBezTo>
                    <a:pt x="39370" y="52070"/>
                    <a:pt x="50800" y="43180"/>
                    <a:pt x="52070" y="31750"/>
                  </a:cubicBezTo>
                  <a:lnTo>
                    <a:pt x="52070" y="30480"/>
                  </a:lnTo>
                  <a:lnTo>
                    <a:pt x="52070" y="25400"/>
                  </a:lnTo>
                  <a:cubicBezTo>
                    <a:pt x="53340" y="11430"/>
                    <a:pt x="40640" y="0"/>
                    <a:pt x="266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4150" y="35560"/>
              <a:ext cx="100330" cy="7620"/>
            </a:xfrm>
            <a:custGeom>
              <a:avLst/>
              <a:gdLst/>
              <a:ahLst/>
              <a:cxnLst/>
              <a:rect r="r" b="b" t="t" l="l"/>
              <a:pathLst>
                <a:path h="7620" w="100330">
                  <a:moveTo>
                    <a:pt x="97790" y="1270"/>
                  </a:moveTo>
                  <a:lnTo>
                    <a:pt x="3810" y="1270"/>
                  </a:lnTo>
                  <a:cubicBezTo>
                    <a:pt x="2540" y="1270"/>
                    <a:pt x="1270" y="1270"/>
                    <a:pt x="0" y="0"/>
                  </a:cubicBezTo>
                  <a:cubicBezTo>
                    <a:pt x="1270" y="3810"/>
                    <a:pt x="3810" y="7620"/>
                    <a:pt x="6350" y="7620"/>
                  </a:cubicBezTo>
                  <a:lnTo>
                    <a:pt x="93980" y="7620"/>
                  </a:lnTo>
                  <a:cubicBezTo>
                    <a:pt x="96520" y="7620"/>
                    <a:pt x="99060" y="5080"/>
                    <a:pt x="100330" y="0"/>
                  </a:cubicBezTo>
                  <a:cubicBezTo>
                    <a:pt x="99060" y="1270"/>
                    <a:pt x="99060" y="1270"/>
                    <a:pt x="97790" y="1270"/>
                  </a:cubicBezTo>
                  <a:close/>
                </a:path>
              </a:pathLst>
            </a:custGeom>
            <a:solidFill>
              <a:srgbClr val="E9EBE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400" y="66040"/>
              <a:ext cx="417830" cy="669290"/>
            </a:xfrm>
            <a:custGeom>
              <a:avLst/>
              <a:gdLst/>
              <a:ahLst/>
              <a:cxnLst/>
              <a:rect r="r" b="b" t="t" l="l"/>
              <a:pathLst>
                <a:path h="669290" w="417830">
                  <a:moveTo>
                    <a:pt x="0" y="0"/>
                  </a:moveTo>
                  <a:lnTo>
                    <a:pt x="417830" y="0"/>
                  </a:lnTo>
                  <a:lnTo>
                    <a:pt x="417830" y="669290"/>
                  </a:lnTo>
                  <a:lnTo>
                    <a:pt x="0" y="669290"/>
                  </a:lnTo>
                  <a:close/>
                </a:path>
              </a:pathLst>
            </a:custGeom>
            <a:blipFill>
              <a:blip r:embed="rId3"/>
              <a:stretch>
                <a:fillRect l="-30091" t="0" r="-30091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2461274"/>
            <a:ext cx="10093024" cy="224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9350" spc="-81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Assessment for Ocean Activities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5781675"/>
            <a:ext cx="8520776" cy="3117652"/>
            <a:chOff x="0" y="0"/>
            <a:chExt cx="2244155" cy="8211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4155" cy="821110"/>
            </a:xfrm>
            <a:custGeom>
              <a:avLst/>
              <a:gdLst/>
              <a:ahLst/>
              <a:cxnLst/>
              <a:rect r="r" b="b" t="t" l="l"/>
              <a:pathLst>
                <a:path h="821110" w="2244155">
                  <a:moveTo>
                    <a:pt x="27258" y="0"/>
                  </a:moveTo>
                  <a:lnTo>
                    <a:pt x="2216897" y="0"/>
                  </a:lnTo>
                  <a:cubicBezTo>
                    <a:pt x="2231951" y="0"/>
                    <a:pt x="2244155" y="12204"/>
                    <a:pt x="2244155" y="27258"/>
                  </a:cubicBezTo>
                  <a:lnTo>
                    <a:pt x="2244155" y="793852"/>
                  </a:lnTo>
                  <a:cubicBezTo>
                    <a:pt x="2244155" y="801081"/>
                    <a:pt x="2241283" y="808015"/>
                    <a:pt x="2236171" y="813126"/>
                  </a:cubicBezTo>
                  <a:cubicBezTo>
                    <a:pt x="2231059" y="818238"/>
                    <a:pt x="2224126" y="821110"/>
                    <a:pt x="2216897" y="821110"/>
                  </a:cubicBezTo>
                  <a:lnTo>
                    <a:pt x="27258" y="821110"/>
                  </a:lnTo>
                  <a:cubicBezTo>
                    <a:pt x="20029" y="821110"/>
                    <a:pt x="13095" y="818238"/>
                    <a:pt x="7984" y="813126"/>
                  </a:cubicBezTo>
                  <a:cubicBezTo>
                    <a:pt x="2872" y="808015"/>
                    <a:pt x="0" y="801081"/>
                    <a:pt x="0" y="793852"/>
                  </a:cubicBezTo>
                  <a:lnTo>
                    <a:pt x="0" y="27258"/>
                  </a:lnTo>
                  <a:cubicBezTo>
                    <a:pt x="0" y="20029"/>
                    <a:pt x="2872" y="13095"/>
                    <a:pt x="7984" y="7984"/>
                  </a:cubicBezTo>
                  <a:cubicBezTo>
                    <a:pt x="13095" y="2872"/>
                    <a:pt x="20029" y="0"/>
                    <a:pt x="27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2244155" cy="792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19261" y="7087085"/>
            <a:ext cx="7139654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Adjust policy pricing &amp; coverage based on the risk associated with specific ocean activities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9261" y="6000257"/>
            <a:ext cx="713965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1A3C5C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969692"/>
            <a:ext cx="8520776" cy="3755827"/>
            <a:chOff x="0" y="0"/>
            <a:chExt cx="2244155" cy="9891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4155" cy="989189"/>
            </a:xfrm>
            <a:custGeom>
              <a:avLst/>
              <a:gdLst/>
              <a:ahLst/>
              <a:cxnLst/>
              <a:rect r="r" b="b" t="t" l="l"/>
              <a:pathLst>
                <a:path h="989189" w="2244155">
                  <a:moveTo>
                    <a:pt x="27258" y="0"/>
                  </a:moveTo>
                  <a:lnTo>
                    <a:pt x="2216897" y="0"/>
                  </a:lnTo>
                  <a:cubicBezTo>
                    <a:pt x="2231951" y="0"/>
                    <a:pt x="2244155" y="12204"/>
                    <a:pt x="2244155" y="27258"/>
                  </a:cubicBezTo>
                  <a:lnTo>
                    <a:pt x="2244155" y="961931"/>
                  </a:lnTo>
                  <a:cubicBezTo>
                    <a:pt x="2244155" y="969160"/>
                    <a:pt x="2241283" y="976094"/>
                    <a:pt x="2236171" y="981205"/>
                  </a:cubicBezTo>
                  <a:cubicBezTo>
                    <a:pt x="2231059" y="986317"/>
                    <a:pt x="2224126" y="989189"/>
                    <a:pt x="2216897" y="989189"/>
                  </a:cubicBezTo>
                  <a:lnTo>
                    <a:pt x="27258" y="989189"/>
                  </a:lnTo>
                  <a:cubicBezTo>
                    <a:pt x="20029" y="989189"/>
                    <a:pt x="13095" y="986317"/>
                    <a:pt x="7984" y="981205"/>
                  </a:cubicBezTo>
                  <a:cubicBezTo>
                    <a:pt x="2872" y="976094"/>
                    <a:pt x="0" y="969160"/>
                    <a:pt x="0" y="961931"/>
                  </a:cubicBezTo>
                  <a:lnTo>
                    <a:pt x="0" y="27258"/>
                  </a:lnTo>
                  <a:cubicBezTo>
                    <a:pt x="0" y="20029"/>
                    <a:pt x="2872" y="13095"/>
                    <a:pt x="7984" y="7984"/>
                  </a:cubicBezTo>
                  <a:cubicBezTo>
                    <a:pt x="13095" y="2872"/>
                    <a:pt x="20029" y="0"/>
                    <a:pt x="27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244155" cy="960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9348" y="5408078"/>
            <a:ext cx="224881" cy="22488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C5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5114" y="6344370"/>
            <a:ext cx="224881" cy="2248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C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9348" y="7233194"/>
            <a:ext cx="224881" cy="22488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C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81897" y="3022492"/>
            <a:ext cx="7313010" cy="5582117"/>
            <a:chOff x="0" y="0"/>
            <a:chExt cx="12478495" cy="952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78495" cy="9525000"/>
            </a:xfrm>
            <a:custGeom>
              <a:avLst/>
              <a:gdLst/>
              <a:ahLst/>
              <a:cxnLst/>
              <a:rect r="r" b="b" t="t" l="l"/>
              <a:pathLst>
                <a:path h="9525000" w="12478495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424269" y="0"/>
                    <a:pt x="948366" y="0"/>
                  </a:cubicBezTo>
                  <a:lnTo>
                    <a:pt x="11530129" y="0"/>
                  </a:lnTo>
                  <a:cubicBezTo>
                    <a:pt x="12054225" y="0"/>
                    <a:pt x="12478495" y="217170"/>
                    <a:pt x="12478495" y="482600"/>
                  </a:cubicBezTo>
                  <a:lnTo>
                    <a:pt x="12478495" y="9042400"/>
                  </a:lnTo>
                  <a:cubicBezTo>
                    <a:pt x="12478495" y="9309100"/>
                    <a:pt x="12054225" y="9525000"/>
                    <a:pt x="11530129" y="9525000"/>
                  </a:cubicBezTo>
                  <a:lnTo>
                    <a:pt x="948366" y="9525000"/>
                  </a:lnTo>
                  <a:cubicBezTo>
                    <a:pt x="426765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5"/>
              <a:stretch>
                <a:fillRect l="0" t="-15503" r="-9715" b="-2823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2686993"/>
            <a:ext cx="811530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5"/>
              </a:lnSpc>
            </a:pPr>
            <a:r>
              <a:rPr lang="en-US" sz="7500" spc="-6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 &amp; Analysis overview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37785" y="5289676"/>
            <a:ext cx="676057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lang="en-US" sz="2600" spc="-52" u="sng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  <a:hlinkClick r:id="rId6" tooltip="https://www.sharkattackfile.net/incidentlog.htm"/>
              </a:rPr>
              <a:t>Global Shark Attack file</a:t>
            </a: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 from Shark Research Institutes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37785" y="7200900"/>
            <a:ext cx="676057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Data used for policy optimization: demographics, water activities, regions, and seasons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737785" y="6241359"/>
            <a:ext cx="676057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Filteres for the last 50 years, as climate change impacts sharks activity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668" y="5324359"/>
            <a:ext cx="11043014" cy="4720889"/>
          </a:xfrm>
          <a:custGeom>
            <a:avLst/>
            <a:gdLst/>
            <a:ahLst/>
            <a:cxnLst/>
            <a:rect r="r" b="b" t="t" l="l"/>
            <a:pathLst>
              <a:path h="4720889" w="11043014">
                <a:moveTo>
                  <a:pt x="0" y="0"/>
                </a:moveTo>
                <a:lnTo>
                  <a:pt x="11043014" y="0"/>
                </a:lnTo>
                <a:lnTo>
                  <a:pt x="11043014" y="4720889"/>
                </a:lnTo>
                <a:lnTo>
                  <a:pt x="0" y="4720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668" y="241752"/>
            <a:ext cx="11043014" cy="4870394"/>
          </a:xfrm>
          <a:custGeom>
            <a:avLst/>
            <a:gdLst/>
            <a:ahLst/>
            <a:cxnLst/>
            <a:rect r="r" b="b" t="t" l="l"/>
            <a:pathLst>
              <a:path h="4870394" w="11043014">
                <a:moveTo>
                  <a:pt x="0" y="0"/>
                </a:moveTo>
                <a:lnTo>
                  <a:pt x="11043014" y="0"/>
                </a:lnTo>
                <a:lnTo>
                  <a:pt x="11043014" y="4870394"/>
                </a:lnTo>
                <a:lnTo>
                  <a:pt x="0" y="4870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16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1010" y="5722613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   CATEGORIES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1010" y="6650606"/>
            <a:ext cx="528226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Same as the data above, we analised the 5 top risky activities to define the premium insurance increase: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1010" y="7732750"/>
            <a:ext cx="225042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Surfing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Swimming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Fishing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Boating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1010" y="1676023"/>
            <a:ext cx="528226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Defined 10 countries with the highest frequency of shark attack to refine the higher insurance premium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71010" y="752475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71010" y="3099243"/>
            <a:ext cx="225042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Australia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South Africa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Bahamas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Brazil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12141" y="3099243"/>
            <a:ext cx="264113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 Zealand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 Caledonia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Reunion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Mexico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Egypt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110" y="1193917"/>
            <a:ext cx="9009890" cy="3851728"/>
          </a:xfrm>
          <a:custGeom>
            <a:avLst/>
            <a:gdLst/>
            <a:ahLst/>
            <a:cxnLst/>
            <a:rect r="r" b="b" t="t" l="l"/>
            <a:pathLst>
              <a:path h="3851728" w="9009890">
                <a:moveTo>
                  <a:pt x="0" y="0"/>
                </a:moveTo>
                <a:lnTo>
                  <a:pt x="9009890" y="0"/>
                </a:lnTo>
                <a:lnTo>
                  <a:pt x="9009890" y="3851728"/>
                </a:lnTo>
                <a:lnTo>
                  <a:pt x="0" y="3851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193917"/>
            <a:ext cx="9009890" cy="3851728"/>
          </a:xfrm>
          <a:custGeom>
            <a:avLst/>
            <a:gdLst/>
            <a:ahLst/>
            <a:cxnLst/>
            <a:rect r="r" b="b" t="t" l="l"/>
            <a:pathLst>
              <a:path h="3851728" w="9009890">
                <a:moveTo>
                  <a:pt x="0" y="0"/>
                </a:moveTo>
                <a:lnTo>
                  <a:pt x="9009890" y="0"/>
                </a:lnTo>
                <a:lnTo>
                  <a:pt x="9009890" y="3851728"/>
                </a:lnTo>
                <a:lnTo>
                  <a:pt x="0" y="3851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110" y="5045645"/>
            <a:ext cx="9009890" cy="3851728"/>
          </a:xfrm>
          <a:custGeom>
            <a:avLst/>
            <a:gdLst/>
            <a:ahLst/>
            <a:cxnLst/>
            <a:rect r="r" b="b" t="t" l="l"/>
            <a:pathLst>
              <a:path h="3851728" w="9009890">
                <a:moveTo>
                  <a:pt x="0" y="0"/>
                </a:moveTo>
                <a:lnTo>
                  <a:pt x="9009890" y="0"/>
                </a:lnTo>
                <a:lnTo>
                  <a:pt x="9009890" y="3851728"/>
                </a:lnTo>
                <a:lnTo>
                  <a:pt x="0" y="3851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58900" y="6381733"/>
            <a:ext cx="417881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   PER   COUNTRY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58900" y="7878198"/>
            <a:ext cx="272043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Australia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South Africa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58900" y="7177388"/>
            <a:ext cx="633479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 countries with the highest number of attacks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27977" y="8211573"/>
            <a:ext cx="272043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Bahamas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Brazil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9029" y="426001"/>
            <a:ext cx="11301259" cy="4322732"/>
          </a:xfrm>
          <a:custGeom>
            <a:avLst/>
            <a:gdLst/>
            <a:ahLst/>
            <a:cxnLst/>
            <a:rect r="r" b="b" t="t" l="l"/>
            <a:pathLst>
              <a:path h="4322732" w="11301259">
                <a:moveTo>
                  <a:pt x="0" y="0"/>
                </a:moveTo>
                <a:lnTo>
                  <a:pt x="11301259" y="0"/>
                </a:lnTo>
                <a:lnTo>
                  <a:pt x="11301259" y="4322731"/>
                </a:lnTo>
                <a:lnTo>
                  <a:pt x="0" y="4322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9029" y="4991611"/>
            <a:ext cx="11301259" cy="4831288"/>
          </a:xfrm>
          <a:custGeom>
            <a:avLst/>
            <a:gdLst/>
            <a:ahLst/>
            <a:cxnLst/>
            <a:rect r="r" b="b" t="t" l="l"/>
            <a:pathLst>
              <a:path h="4831288" w="11301259">
                <a:moveTo>
                  <a:pt x="0" y="0"/>
                </a:moveTo>
                <a:lnTo>
                  <a:pt x="11301259" y="0"/>
                </a:lnTo>
                <a:lnTo>
                  <a:pt x="11301259" y="4831288"/>
                </a:lnTo>
                <a:lnTo>
                  <a:pt x="0" y="483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1010" y="7051922"/>
            <a:ext cx="44151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FATALITY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1010" y="8120944"/>
            <a:ext cx="508829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non fatal incidents prevail which makes it irrelevant factor for the risk assessment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1010" y="2656213"/>
            <a:ext cx="528226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medium severity prevails in the analysis which can refine the insurance premium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1010" y="1546233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SEVERITY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1904" y="241752"/>
            <a:ext cx="10360541" cy="5750101"/>
          </a:xfrm>
          <a:custGeom>
            <a:avLst/>
            <a:gdLst/>
            <a:ahLst/>
            <a:cxnLst/>
            <a:rect r="r" b="b" t="t" l="l"/>
            <a:pathLst>
              <a:path h="5750101" w="10360541">
                <a:moveTo>
                  <a:pt x="0" y="0"/>
                </a:moveTo>
                <a:lnTo>
                  <a:pt x="10360542" y="0"/>
                </a:lnTo>
                <a:lnTo>
                  <a:pt x="10360542" y="5750101"/>
                </a:lnTo>
                <a:lnTo>
                  <a:pt x="0" y="5750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1904" y="6082340"/>
            <a:ext cx="10360541" cy="3962907"/>
          </a:xfrm>
          <a:custGeom>
            <a:avLst/>
            <a:gdLst/>
            <a:ahLst/>
            <a:cxnLst/>
            <a:rect r="r" b="b" t="t" l="l"/>
            <a:pathLst>
              <a:path h="3962907" w="10360541">
                <a:moveTo>
                  <a:pt x="0" y="0"/>
                </a:moveTo>
                <a:lnTo>
                  <a:pt x="10360542" y="0"/>
                </a:lnTo>
                <a:lnTo>
                  <a:pt x="10360542" y="3962908"/>
                </a:lnTo>
                <a:lnTo>
                  <a:pt x="0" y="3962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1010" y="6775697"/>
            <a:ext cx="473010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MOON PHASES AND SEASONS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1010" y="8120944"/>
            <a:ext cx="508829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Summer season imposes the most risk and moon fases don't show much influence in the shark behaviours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1010" y="2656213"/>
            <a:ext cx="528226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Young adults group shows the highest risk category with 61%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1010" y="1546233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48612"/>
            <a:ext cx="7911594" cy="5869180"/>
            <a:chOff x="0" y="0"/>
            <a:chExt cx="2083712" cy="1545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3712" cy="1545792"/>
            </a:xfrm>
            <a:custGeom>
              <a:avLst/>
              <a:gdLst/>
              <a:ahLst/>
              <a:cxnLst/>
              <a:rect r="r" b="b" t="t" l="l"/>
              <a:pathLst>
                <a:path h="1545792" w="2083712">
                  <a:moveTo>
                    <a:pt x="29357" y="0"/>
                  </a:moveTo>
                  <a:lnTo>
                    <a:pt x="2054356" y="0"/>
                  </a:lnTo>
                  <a:cubicBezTo>
                    <a:pt x="2070569" y="0"/>
                    <a:pt x="2083712" y="13143"/>
                    <a:pt x="2083712" y="29357"/>
                  </a:cubicBezTo>
                  <a:lnTo>
                    <a:pt x="2083712" y="1516436"/>
                  </a:lnTo>
                  <a:cubicBezTo>
                    <a:pt x="2083712" y="1532649"/>
                    <a:pt x="2070569" y="1545792"/>
                    <a:pt x="2054356" y="1545792"/>
                  </a:cubicBezTo>
                  <a:lnTo>
                    <a:pt x="29357" y="1545792"/>
                  </a:lnTo>
                  <a:cubicBezTo>
                    <a:pt x="13143" y="1545792"/>
                    <a:pt x="0" y="1532649"/>
                    <a:pt x="0" y="1516436"/>
                  </a:cubicBezTo>
                  <a:lnTo>
                    <a:pt x="0" y="29357"/>
                  </a:lnTo>
                  <a:cubicBezTo>
                    <a:pt x="0" y="13143"/>
                    <a:pt x="13143" y="0"/>
                    <a:pt x="2935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83712" cy="1517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47706" y="1948612"/>
            <a:ext cx="7911594" cy="5869180"/>
            <a:chOff x="0" y="0"/>
            <a:chExt cx="2083712" cy="15457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712" cy="1545792"/>
            </a:xfrm>
            <a:custGeom>
              <a:avLst/>
              <a:gdLst/>
              <a:ahLst/>
              <a:cxnLst/>
              <a:rect r="r" b="b" t="t" l="l"/>
              <a:pathLst>
                <a:path h="1545792" w="2083712">
                  <a:moveTo>
                    <a:pt x="29357" y="0"/>
                  </a:moveTo>
                  <a:lnTo>
                    <a:pt x="2054356" y="0"/>
                  </a:lnTo>
                  <a:cubicBezTo>
                    <a:pt x="2070569" y="0"/>
                    <a:pt x="2083712" y="13143"/>
                    <a:pt x="2083712" y="29357"/>
                  </a:cubicBezTo>
                  <a:lnTo>
                    <a:pt x="2083712" y="1516436"/>
                  </a:lnTo>
                  <a:cubicBezTo>
                    <a:pt x="2083712" y="1532649"/>
                    <a:pt x="2070569" y="1545792"/>
                    <a:pt x="2054356" y="1545792"/>
                  </a:cubicBezTo>
                  <a:lnTo>
                    <a:pt x="29357" y="1545792"/>
                  </a:lnTo>
                  <a:cubicBezTo>
                    <a:pt x="13143" y="1545792"/>
                    <a:pt x="0" y="1532649"/>
                    <a:pt x="0" y="1516436"/>
                  </a:cubicBezTo>
                  <a:lnTo>
                    <a:pt x="0" y="29357"/>
                  </a:lnTo>
                  <a:cubicBezTo>
                    <a:pt x="0" y="13143"/>
                    <a:pt x="13143" y="0"/>
                    <a:pt x="29357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83712" cy="1517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347706" y="8390725"/>
            <a:ext cx="7911594" cy="87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4"/>
              </a:lnSpc>
            </a:pPr>
            <a:r>
              <a:rPr lang="en-US" b="true" sz="6866" spc="-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6749" y="2247196"/>
            <a:ext cx="425689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1A3C5C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CONCLUSIONS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9375" y="2247196"/>
            <a:ext cx="548318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BASED ON THE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6749" y="4726756"/>
            <a:ext cx="6360010" cy="161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 high-risk countries</a:t>
            </a:r>
          </a:p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 high-risk activity categories</a:t>
            </a:r>
          </a:p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Summer season</a:t>
            </a:r>
          </a:p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Ages 18-45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390725"/>
            <a:ext cx="7911594" cy="87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4"/>
              </a:lnSpc>
            </a:pPr>
            <a:r>
              <a:rPr lang="en-US" b="true" sz="6866" spc="-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39375" y="4287111"/>
            <a:ext cx="6106193" cy="320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Country: higher premiums in high-risk regions</a:t>
            </a:r>
          </a:p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Activity: surfing, diving, or other high-risk activities increase premiums</a:t>
            </a:r>
          </a:p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Season: travel insurance during summer is priced higher</a:t>
            </a:r>
          </a:p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Age: customers aged 18-45 face higher premiums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39375" y="2926306"/>
            <a:ext cx="6674733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Since these factores directly influence the probability of an incident, the insurance premium should adjust accordingly: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749" y="3001461"/>
            <a:ext cx="6689829" cy="162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33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analysis revealed the key factors that most strongly increase shark-attack risk, and therefore have a direct impact on insurance premium princing: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83612" y="3354944"/>
            <a:ext cx="8520776" cy="482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41"/>
              </a:lnSpc>
            </a:pPr>
            <a:r>
              <a:rPr lang="en-US" b="true" sz="20048" spc="-17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15093"/>
            <a:ext cx="16230600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 FACTORS  FOR OCEAN  ACTIVITIES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9767" y="8399542"/>
            <a:ext cx="51531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1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COMPANY:  APM  INSURANCE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6081" y="8399542"/>
            <a:ext cx="46558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1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:  DATA ANALYTICS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4632" y="8399542"/>
            <a:ext cx="475054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-1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TEAM:   ANNA,  PAULINA ,  MARISA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DAG4H32jPcY</dc:identifier>
  <dcterms:modified xsi:type="dcterms:W3CDTF">2011-08-01T06:04:30Z</dcterms:modified>
  <cp:revision>1</cp:revision>
  <dc:title>Blue and White Gradient Modern Insurance Presentation</dc:title>
</cp:coreProperties>
</file>